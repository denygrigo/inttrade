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</c:v>
                </c:pt>
              </c:strCache>
            </c:strRef>
          </c:tx>
          <c:spPr>
            <a:solidFill>
              <a:srgbClr val="BAC8C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Поиск</c:v>
                  </c:pt>
                  <c:pt idx="1">
                    <c:v>Синтез</c:v>
                  </c:pt>
                  <c:pt idx="2">
                    <c:v>Дизайн</c:v>
                  </c:pt>
                  <c:pt idx="3">
                    <c:v>Проверка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10</c:v>
                </c:pt>
                <c:pt idx="2">
                  <c:v>10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Цель</c:v>
                </c:pt>
              </c:strCache>
            </c:strRef>
          </c:tx>
          <c:spPr>
            <a:solidFill>
              <a:srgbClr val="00796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Поиск</c:v>
                  </c:pt>
                  <c:pt idx="1">
                    <c:v>Синтез</c:v>
                  </c:pt>
                  <c:pt idx="2">
                    <c:v>Дизайн</c:v>
                  </c:pt>
                  <c:pt idx="3">
                    <c:v>Проверка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DejaVu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0"/>
        <c:axPos val="l"/>
        <c:majorGridlines>
          <c:spPr>
            <a:ln w="12700" cap="flat">
              <a:solidFill>
                <a:srgbClr val="DAE2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values are synthetic. Source: studio/examples/data.json strategy. Reduction=(40−26)/40=35%. This is a proposed target, not an observed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 for the fictional pilot. Zero blockers is a proposed acceptance criterion, not observed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editable chart with embedded workbook. Before 12+10+10+8=40; target 8+7+6+5=26. The target is not empirical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Qualitative recommendation and proposed controls; not a measured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Proposed 12-week plan with role owners. No dates or commitments are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locator: studio/examples/data.json. Visual-reference access and limitations are logged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0"/>
            <a:ext cx="3870960" cy="6858000"/>
          </a:xfrm>
          <a:prstGeom prst="rect">
            <a:avLst/>
          </a:prstGeom>
          <a:solidFill>
            <a:srgbClr val="163E46"/>
          </a:solidFill>
          <a:ln w="12700">
            <a:solidFill>
              <a:srgbClr val="163E4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796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RESEARCH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200" kern="0" dirty="0">
                <a:solidFill>
                  <a:srgbClr val="00796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856232"/>
            <a:ext cx="7406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C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Освободить время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62C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для решений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3840480"/>
            <a:ext cx="7040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12-недельный пилот единого процесса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исследования, дизайна и проверки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32520" y="20116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−35%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778240" y="340156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4DDD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целевая трудоёмкость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4DDD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условного отчёта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55595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РЕШЕНИЕ ДЛЯ РУКОВОДСТВА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22 октября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ТЕСТ СТРАТЕГИЧЕСКОЙ ПРЕЗЕНТАЦИИ · МОДЕЛЬ, НЕ ФАКТ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0796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РЕШЕНИЕ ЗА ОДНУ МИНУТУ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018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C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Запустить пилот с проверкой качества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8562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Цель — проверить целевую экономию времени без ухудшения аргументации.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96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80160" y="2651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C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Единый путь от вопроса до результата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280160" y="31089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Источники, структура и визуальная система сохраняются вместе.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96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38404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C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Проверка становится отдельным этапом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80160" y="42976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Факты и каждый слайд проверяются до выдачи результата.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2514600"/>
            <a:ext cx="3337560" cy="3474720"/>
          </a:xfrm>
          <a:prstGeom prst="rect">
            <a:avLst/>
          </a:prstGeom>
          <a:solidFill>
            <a:srgbClr val="E4EDE6"/>
          </a:solidFill>
          <a:ln w="12700">
            <a:solidFill>
              <a:srgbClr val="E4EDE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346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96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УСЛОВИЕ ПРОДОЛЖЕНИЯ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95360" y="34290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63E4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8641080" y="46634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3E4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неустранённых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63E4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критических ошибок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ДЕМОНСТРАЦИЯ · УСЛОВНЫЕ ДАННЫЕ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0796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ОПЕРАЦИОННАЯ МОДЕЛЬ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018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C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Цель пилота: 40 → 26 часов на отчёт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8562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Наибольший резерв модели — поиск материалов и сборка слайдов.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560320"/>
          <a:ext cx="790956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2267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Часы / отчёт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82396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796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−14 ч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823960" y="397764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Расчётная разница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 условной модели.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Эффект предстоит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измерить в пилоте.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ИСТОЧНИК: examples/data.json · strategy · ВСЕ ЗНАЧЕНИЯ УСЛОВНЫЕ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0796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ВЫБОР ПОДХОДА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018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C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Пилот даёт проверяемое основание для масштаба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8562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Качественная оценка вариантов; финансовая окупаемость пока не рассчитана.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Критерий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00600" y="26060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Разрозненные инструменты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09560" y="2423160"/>
            <a:ext cx="3749040" cy="3383280"/>
          </a:xfrm>
          <a:prstGeom prst="rect">
            <a:avLst/>
          </a:prstGeom>
          <a:solidFill>
            <a:srgbClr val="E4EDE6"/>
          </a:solidFill>
          <a:ln w="12700">
            <a:solidFill>
              <a:srgbClr val="E4EDE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796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Единый пилот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27832"/>
            <a:ext cx="10972800" cy="0"/>
          </a:xfrm>
          <a:prstGeom prst="line">
            <a:avLst/>
          </a:prstGeom>
          <a:noFill/>
          <a:ln w="10160">
            <a:solidFill>
              <a:srgbClr val="CBD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3375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B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Источники и версии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33375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04B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Зависят от автора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38160" y="33375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E4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Общий журнал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4050792"/>
            <a:ext cx="10972800" cy="0"/>
          </a:xfrm>
          <a:prstGeom prst="line">
            <a:avLst/>
          </a:prstGeom>
          <a:noFill/>
          <a:ln w="10160">
            <a:solidFill>
              <a:srgbClr val="CBD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1605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B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Проверка слайдов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00600" y="4160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04B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 ситуации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38160" y="41605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E4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Перед выдачей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4873752"/>
            <a:ext cx="10972800" cy="0"/>
          </a:xfrm>
          <a:prstGeom prst="line">
            <a:avLst/>
          </a:prstGeom>
          <a:noFill/>
          <a:ln w="10160">
            <a:solidFill>
              <a:srgbClr val="CBD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983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04B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Решение о масштабе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4983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04B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Без общей метрики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38160" y="498348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E4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По результатам пилота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ДЕМОНСТРАЦИЯ · УСЛОВНЫЕ ДАННЫЕ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3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BCD7C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 НЕДЕЛЬ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98448"/>
            <a:ext cx="10789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Измерить. Исправить.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Принять решение.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640080" y="3246120"/>
            <a:ext cx="3383280" cy="0"/>
          </a:xfrm>
          <a:prstGeom prst="line">
            <a:avLst/>
          </a:prstGeom>
          <a:noFill/>
          <a:ln w="10160">
            <a:solidFill>
              <a:srgbClr val="6B9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5204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6E8D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01–02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40080" y="4187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База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8006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DDD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Руководитель аналитики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4DDD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Замерить время и ошибки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62272" y="3246120"/>
            <a:ext cx="3383280" cy="0"/>
          </a:xfrm>
          <a:prstGeom prst="line">
            <a:avLst/>
          </a:prstGeom>
          <a:noFill/>
          <a:ln w="10160">
            <a:solidFill>
              <a:srgbClr val="6B9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35204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6E8D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03–08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4462272" y="4187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Пилот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62272" y="48006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DDD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Команда студии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4DDD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Проверить три типа задач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84464" y="3246120"/>
            <a:ext cx="3383280" cy="0"/>
          </a:xfrm>
          <a:prstGeom prst="line">
            <a:avLst/>
          </a:prstGeom>
          <a:noFill/>
          <a:ln w="10160">
            <a:solidFill>
              <a:srgbClr val="6B9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35204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C6E8D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09–12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8284464" y="41879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Решение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84464" y="4800600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DDD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Заказчик пилота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4DDD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Оценить качество и эффект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1CBC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ПРЕДЛОЖЕННЫЙ ПЛАН · СРОКИ И РОЛИ ДЛЯ ДЕМОНСТРАЦИИ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CBC6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00796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ОСНОВАНИЯ И ГРАНИЦЫ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018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C35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Эта модель проверяет процесс, а не рынок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8562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Ни одна коммерческая цифра не выдается за результат реального исследования.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560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96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Данные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3154680"/>
            <a:ext cx="5532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04B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Локальный открытый файл examples/data.json.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04B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Все трудозатраты заданы для теста.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04B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Экономия: (40 − 26) / 40 = 35%.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67512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96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Что нужно измерить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800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04B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Фактическое время команды.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04B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Тяжесть ошибок до и после.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04B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Долю выводов с достаточным обоснованием.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04B54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Оценку читабельности заказчиком.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5577840"/>
            <a:ext cx="10972800" cy="0"/>
          </a:xfrm>
          <a:prstGeom prst="line">
            <a:avLst/>
          </a:prstGeom>
          <a:noFill/>
          <a:ln w="10160">
            <a:solidFill>
              <a:srgbClr val="C9D2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57607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Референсы и журнал доступа: studio/references/design-references.json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Арт-дирекшн и QA поставляются отдельно от презентации.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446520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ДЕМОНСТРАЦИЯ · УСЛОВНЫЕ ДАННЫЕ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109960" y="64190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07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jaVu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ejaVu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Решение: пилот студии исследований</dc:title>
  <dc:subject>Fictional acceptance test, 2026-10-22</dc:subject>
  <dc:creator>Research &amp; Design Studio</dc:creator>
  <cp:lastModifiedBy>Research &amp; Design Studio</cp:lastModifiedBy>
  <cp:revision>1</cp:revision>
  <dcterms:created xsi:type="dcterms:W3CDTF">2026-10-22T00:11:54Z</dcterms:created>
  <dcterms:modified xsi:type="dcterms:W3CDTF">2026-10-22T00:11:54Z</dcterms:modified>
</cp:coreProperties>
</file>